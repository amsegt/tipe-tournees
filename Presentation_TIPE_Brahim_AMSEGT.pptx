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 de l'intro historique. À dire : la théorie des graphes naît avec Euler (1736) ; le TSP en est l'héritier au XIXe. Insister sur eulérien (arêtes) vs hamiltonien (sommets) : c'est l'argument qui prépare la défense TSP-vs-CARP. Karp 1972 = pourquoi on ne résout pas exactement en grand.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vocabulaire, à dérouler vite. Définitions à savoir redéfinir au tableau : graphe pondéré, degré, chemin, connexité, cycle hamiltonien. Le stockage se fait par matrice d'adjacence pondérée (matrice des distances).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D'HONNÊTETÉ : ce sont des points ALÉATOIRES, pas Meknès. Ne JAMAIS présenter ces chiffres comme un résultat Meknès. Le code est validé ; les vrais chiffres viendront du graphe relevé sur le terrain. Si le jury demande le gain réel à Meknès : répondre qu'il sera mesuré sur les coordonnées GPS, pas extrapolé.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MP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5303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Brahim AMSEGT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5760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candidat : 13530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080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Monôme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4572000" y="2377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tournées de collecte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4572000" y="3108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déchets urbains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4572000" y="4023360"/>
            <a:ext cx="137160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2025-2026 : « Cycles, boucles »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: un quartier de Meknès (Maroc)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AMSEGT — n° 13530 — TIPE MP — Session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ANCRAGE THÉMATIQUE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cycles, une thématique</a:t>
            </a:r>
            <a:endParaRPr lang="en-US" sz="3000" dirty="0"/>
          </a:p>
        </p:txBody>
      </p:sp>
      <p:pic>
        <p:nvPicPr>
          <p:cNvPr id="7" name="Image 0" descr="fig_triple_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63040"/>
            <a:ext cx="9966960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53949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sujet articule trois acceptions du mot « cycle » : </a:t>
            </a:r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mathématique</a:t>
            </a:r>
            <a:pPr algn="ctr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(cycle hamiltonien du graphe), </a:t>
            </a:r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algorithmique</a:t>
            </a:r>
            <a:pPr algn="ctr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(boucles d'amélioration itératives), et </a:t>
            </a:r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opérationnelle</a:t>
            </a:r>
            <a:pPr algn="ctr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(périodicité quotidienne de la collecte).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AMSEGT — n° 13530 — TIPE MP — Session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REPÈRES HISTORIQUES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D'Euler au voyageur de commerce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669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1736 — Euler, ponts de Königsberg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Naissance de la théorie des graphes. Un cycle eulérien (parcourir chaque arête une fois) existe ssi tous les sommets sont de degré pair.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XIXᵉ siècle — Voyageur de commerce (TSP)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cherche un cycle hamiltonien (visiter chaque sommet une fois) de poids minimal. C'est exactement notre problème de tournée.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1972 — Karp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version décision du TSP est démontrée NP-complète : aucun algorithme polynomial exact connu.</a:t>
            </a:r>
            <a:endParaRPr lang="en-US" sz="1250" dirty="0"/>
          </a:p>
        </p:txBody>
      </p:sp>
      <p:pic>
        <p:nvPicPr>
          <p:cNvPr id="8" name="Image 0" descr="fig_konigsbe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5303520" cy="3383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623560"/>
            <a:ext cx="11247120" cy="914400"/>
          </a:xfrm>
          <a:prstGeom prst="rect">
            <a:avLst/>
          </a:prstGeom>
          <a:solidFill>
            <a:srgbClr val="F5F5F5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7150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 à maîtriser : </a:t>
            </a:r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parcourt les </a:t>
            </a:r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arêtes</a:t>
            </a:r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(eulérien) ; nous visitons les </a:t>
            </a:r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sommets</a:t>
            </a:r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(hamiltonien). La collecte réelle parcourt des rues : elle est plus proche du cas eulérien (CARP) — d'où la simplification TSP, assumée plus loin.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AMSEGT — n° 13530 — TIPE MP — Session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de la théorie des graphes</a:t>
            </a:r>
            <a:endParaRPr lang="en-US" sz="3000" dirty="0"/>
          </a:p>
        </p:txBody>
      </p:sp>
      <p:pic>
        <p:nvPicPr>
          <p:cNvPr id="7" name="Image 0" descr="fig_no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6126480" cy="411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75120" y="1554480"/>
            <a:ext cx="502920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675120" y="1554480"/>
            <a:ext cx="109728" cy="44805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0" y="173736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pondéré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(V, E, w) : V sommets, E arêtes, w(u,v) ≥ 0 le poids (ici un temps de trajet).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Degré d(v)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d'arêtes incidentes à v.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/ Graphe connexe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d'arêtes reliant deux sommets ; connexe = deux sommets quelconques sont toujours reliables.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hamiltonien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passant une et une seule fois par chaque sommet. Notre tournée optimale = cycle hamiltonien de poids minimal.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AMSEGT — n° 13530 — TIPE MP — Session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PROBLÉMATIQUE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D'une observation à une question scientifique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30352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Tournées de ramassage à Meknès :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itinéraires choisis empiriquement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trajets visiblement redondants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données géographiques accessibles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557784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1645920"/>
            <a:ext cx="109728" cy="4114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28600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modéliser le réseau de collecte par un graphe pondéré, et déterminer algorithmiquement le cycle minimisant la distance ? Quelles méthodes permettent d'approcher cette solution, et comment se comparent-elles 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: 30-40 points de collecte, trois algorithmes comparés.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AMSEGT — n° 13530 — TIPE MP — Session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MODÉLISATION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quartier réel au graphe pondéré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657600" cy="4206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45920"/>
            <a:ext cx="365760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réel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Quartier de Meknès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30-40 points de collecte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Voies de circulation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Camion partant d'un dépôt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657600" cy="4206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645920"/>
            <a:ext cx="365760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G = (V, E, w)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228600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: sommets (points)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: arêtes (trajets)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w(u,v) : poids = temps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hamiltonien à minimiser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1645920"/>
            <a:ext cx="3657600" cy="4206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645920"/>
            <a:ext cx="3657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95360" y="228600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≈ 0 (5h-7h)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complet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w(u,v) = d/v_moy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capacité limitée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 vrai problème est CARP/VRP (arcs + capacité). Le passage à TSP est une simplification assumée — défendue en discussion.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AMSEGT — n° 13530 — TIPE MP — Session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MODÉLISATION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 : un problème NP-difficile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371600" y="1645920"/>
            <a:ext cx="941832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783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cycles hamiltoniens distincts dans un graphe complet 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19456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− 1)! / 2</a:t>
            </a:r>
            <a:endParaRPr lang="en-US" sz="4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3291840"/>
          <a:ext cx="7589520" cy="2286000"/>
        </p:xfrm>
        <a:graphic>
          <a:graphicData uri="http://schemas.openxmlformats.org/drawingml/2006/table">
            <a:tbl>
              <a:tblPr/>
              <a:tblGrid>
                <a:gridCol w="1371600"/>
                <a:gridCol w="301752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Énumération à 10⁹ op/s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1,8 × 10⁵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instantané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4,4 × 10¹⁰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40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6,1 × 10¹⁶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2 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3,1 × 10²³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âge de l'Univers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Énumération exhaustive impossible. Il faut soit accepter une solution approchée, soit factoriser les calculs (Held-Karp).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3093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Karp, 1972 — démonstration de la NP-complétude de la version décision.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AMSEGT — n° 13530 — TIPE MP — Session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ALGORITHMES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1 : Plus Proche Voisin (PPV)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6400800" cy="4114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6126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plus_proche_voisin(D, depart=0):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visites = [False] * 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cycle = [depart]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visites[depart] =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courant = depart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range(n - 1):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suivant, dmin = -1, inf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v in range(n):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not visites[v] and D[courant,v] &lt; dmin: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dmin = D[courant, v]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suivant = 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cycle.append(suivant)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visites[suivant] =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courant = suivant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cycle.append(depart)   # fermeture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cycle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23760" y="1554480"/>
            <a:ext cx="45720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0" y="1554480"/>
            <a:ext cx="109728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16459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52360" y="20116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étape, aller vers le sommet non visité le plus proche. Heuristique gloutonne.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2971800"/>
            <a:ext cx="45720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0" y="2971800"/>
            <a:ext cx="109728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3063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52360" y="33832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: à chaque étape, recherche du min sur ≤ n sommets, et n étapes.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4389120"/>
            <a:ext cx="45720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0" y="4389120"/>
            <a:ext cx="109728" cy="1280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44805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52360" y="48006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myope : les dernières arêtes sont souvent longues. Aucune garantie d'optimalité.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 : tester les n démarrages possibles, retenir le meilleur cycle. → complexité totale O(n³).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AMSEGT — n° 13530 — TIPE MP — Session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ALGORITHMES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2 : 2-opt — principe géométrique</a:t>
            </a:r>
            <a:endParaRPr lang="en-US" sz="3000" dirty="0"/>
          </a:p>
        </p:txBody>
      </p:sp>
      <p:pic>
        <p:nvPicPr>
          <p:cNvPr id="7" name="Image 0" descr="fig_2opt_princ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54480"/>
            <a:ext cx="996696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5029200"/>
            <a:ext cx="1088136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5029200"/>
            <a:ext cx="109728" cy="1371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516636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Idée. 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deux arêtes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(a,b) et (c,d) 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croisent dans le cycle, on les remplace par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(a,c) et (b,d) 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le cycle est strictement plus court (inégalité triangulaire).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répète jusqu'à ce qu'aucun échange n'améliore plus.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AMSEGT — n° 13530 — TIPE MP — Session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ALGORITHMES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2-opt : code et preuve de terminaison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6400800" cy="4114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6126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deux_opt(cycle, D):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len(cycle) - 1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amelioration =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amelioration:               # boucle externe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amelioration =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range(1, n-1):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j in range(i+1, 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delta = (D[c[i-1], c[j]]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+ D[c[i], c[j+1]]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- D[c[i-1], c[i]]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- D[c[j], c[j+1]])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delta &lt; 0:        # cycle algorithmique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c[i:j+1] = c[i:j+1][::-1]   # inversion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amelioration =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23760" y="1554480"/>
            <a:ext cx="45720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0" y="1554480"/>
            <a:ext cx="109728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1691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Terminaison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52360" y="205740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itération acceptée, le coût décroît strictement (delta &lt; 0).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L'ensemble des cycles hamiltoniens est fini : (n-1)!/2 éléments.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suite strictement décroissante dans un ensemble fini de réels est finie.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spcAft>
                <a:spcPts val="600"/>
              </a:spcAft>
              <a:buNone/>
            </a:pPr>
            <a:r>
              <a:rPr lang="en-US" sz="12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L'algorithme termine en au plus (n-1)!/2 itérations.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local au sens 2-opt, mais pas optimum global. Empiriquement : ~O(n) itérations sur instances euclidiennes (Croes 1958).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AMSEGT — n° 13530 — TIPE MP — Session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ALGORITHMES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3 : Held-Karp — programmation dynamique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12471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91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Définition. 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S ⊆ V tel que 0 ∈ S et j ∈ S \ {0} :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C(S, j) = coût minimal d'un chemin partant de 0, visitant exactement S, et finissant en j.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1124712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9260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Équation de Bellman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C(S, j) = min  [ C(S \ {j}, i) + w(i, j) ]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∈ S \ {j, 0}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1124712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526280"/>
            <a:ext cx="109728" cy="1280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optimal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[ C(V, j) + w(j, 0) ]   pour j ≠ 0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 : optimum global exact. Complexité : O(n² · 2ⁿ) en temps, O(n · 2ⁿ) en mémoire.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&amp; Karp, 1962 — A dynamic programming approach to sequencing problems.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AMSEGT — n° 13530 — TIPE MP — Session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ALGORITHMES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Held-Karp : pourquoi pas sur le graphe complet ?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554480"/>
          <a:ext cx="10332720" cy="2743200"/>
        </p:xfrm>
        <a:graphic>
          <a:graphicData uri="http://schemas.openxmlformats.org/drawingml/2006/table">
            <a:tbl>
              <a:tblPr/>
              <a:tblGrid>
                <a:gridCol w="1097280"/>
                <a:gridCol w="3017520"/>
                <a:gridCol w="365760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Opérations (n²·2ⁿ)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Mémoire (n·2ⁿ entrées)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Faisabilité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7,4 × 10⁶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4,9 × 10⁵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qq.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4,2 × 10⁸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2,1 × 10⁷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qq.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2,1 × 10¹⁰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8,4 × 10⁸ (~7 Go)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critique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9,7 × 10¹¹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3,2 × 10¹⁰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infaisable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1,8 × 10¹⁵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4,4 × 10¹³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infaisable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4572000"/>
            <a:ext cx="109728" cy="13716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4709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dans le projet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51206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Held-Karp est inutilisable sur les 35 points de Meknès. On l'utilise donc uniquement sur des sous-graphes de n ≤ 16, comme étalon de mesure pour évaluer l'écart à l'optimum des heuristiques.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AMSEGT — n° 13530 — TIPE MP — Session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BANC D'ESSAI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expérimental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303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45920"/>
            <a:ext cx="5303520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733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Graphes euclidiens aléatoires, n ∈ {6, 8, 10, 12, 14, 16, 20, 25, 30, 35}. 5 répétitions par taille avec graines distinctes.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645920"/>
            <a:ext cx="5303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645920"/>
            <a:ext cx="5303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733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1031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PPV (avec tous les départs), 2-opt (initialisé depuis PPV), Held-Karp (pour n ≤ 16 uniquement).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5303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931920"/>
            <a:ext cx="5303520" cy="365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9593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3891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du cycle obtenu, temps CPU (mesuré avec time.perf_counter), ratio qualité algo/optimum.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3931920"/>
            <a:ext cx="5303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3931920"/>
            <a:ext cx="5303520" cy="3657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39593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43891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3, NumPy. Mêmes graines aléatoires pour reproductibilité. Mêmes instances pour les trois algorithmes.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: code, graines et données disponibles en annexe.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AMSEGT — n° 13530 — TIPE MP — Session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BANC D'ESSAI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1 : qualité des heuristiques</a:t>
            </a:r>
            <a:endParaRPr lang="en-US" sz="3000" dirty="0"/>
          </a:p>
        </p:txBody>
      </p:sp>
      <p:pic>
        <p:nvPicPr>
          <p:cNvPr id="7" name="Image 0" descr="fig_qual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772400" cy="4572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03920" y="1554480"/>
            <a:ext cx="329184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0" y="2103120"/>
            <a:ext cx="30175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PPV 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 à 4 % au-dessus de l'optimum.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2-opt 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ramène l'écart sous 2 % systématiquement.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Petits n 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PPV trouve souvent l'optimum (l'espace est petit).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: 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2-opt est un excellent compromis qualité/coût.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AMSEGT — n° 13530 — TIPE MP — Session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BANC D'ESSAI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2 : explosion exponentielle de Held-Karp</a:t>
            </a:r>
            <a:endParaRPr lang="en-US" sz="3000" dirty="0"/>
          </a:p>
        </p:txBody>
      </p:sp>
      <p:pic>
        <p:nvPicPr>
          <p:cNvPr id="7" name="Image 0" descr="fig_tem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772400" cy="4572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03920" y="1554480"/>
            <a:ext cx="329184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0" y="2103120"/>
            <a:ext cx="30175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Échelle log :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PPV et 2-opt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restent en deçà de 5 ms même pour n=35.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Held-Karp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 son temps par ~6 chaque fois que n augmente de 2.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n=16,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Held-Karp devient impraticable sur cette machine.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AMSEGT — n° 13530 — TIPE MP — Session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APPLICATION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sur une instance aléatoire de 35 points</a:t>
            </a:r>
            <a:endParaRPr lang="en-US" sz="3000" dirty="0"/>
          </a:p>
        </p:txBody>
      </p:sp>
      <p:pic>
        <p:nvPicPr>
          <p:cNvPr id="7" name="Image 0" descr="fig_mek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11612880" cy="4297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5760720"/>
            <a:ext cx="10332720" cy="777240"/>
          </a:xfrm>
          <a:prstGeom prst="rect">
            <a:avLst/>
          </a:prstGeom>
          <a:solidFill>
            <a:srgbClr val="F5F5F5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58521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CETTE instance : PPV → 530,9   |   2-opt → 523,3   |   gain ≈ 1,4 %.</a:t>
            </a:r>
            <a:pPr algn="ctr"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Gabarit : à rejouer sur le graphe réel de Meknès (coordonnées GPS relevées) — </a:t>
            </a:r>
            <a:pPr algn="ctr"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terrain à mesurer, non extrapolés.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AMSEGT — n° 13530 — TIPE MP — Session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DISCUSSION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du modèle et pistes d'extension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109728" cy="4572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assumées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TSP au lieu de CARP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 vrai problème porte sur les arcs (rues), pas les sommets.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capacité du camion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 réalité, un camion plein doit retourner au dépôt.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partiellement estimées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Distances OSM corrigées, temps homogènes, sens uniques ignorés.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2-opt = optimum local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 de garantie d'optimalité globale.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554480"/>
            <a:ext cx="109728" cy="4572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envisageables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3-opt / Lin-Kernighan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Voisinages plus larges, meilleurs optima locaux.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Métaheuristiques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Recuit simulé, algorithmes génétiques (sortent du programme MP).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au VRP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Plusieurs camions, capacités, fenêtres horaires.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terrain raffinées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Temps réels mesurés, sens uniques, gradient de pente.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algorithmes, trois compromis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65760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proche voisin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Rapidité extrême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prix de la qualité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65760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148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6060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 qualité/temps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local solide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21040" y="2011680"/>
            <a:ext cx="365760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254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2148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Held-Karp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03920" y="26060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exact garanti,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prix de la scalabilité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11247120" cy="21945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60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au thème : Cycles, boucles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70916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mathématique 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hamiltonien du graphe routier.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algorithmique 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boucles d'amélioration itérative de 2-opt.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opérationnel 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périodicité quotidienne de la collecte des déchets.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Optimisation des tournées de collecte des déchets urbains</dc:title>
  <dc:subject>PptxGenJS Presentation</dc:subject>
  <dc:creator>Brahim AMSEGT (n° 13530)</dc:creator>
  <cp:lastModifiedBy>Brahim AMSEGT (n° 13530)</cp:lastModifiedBy>
  <cp:revision>1</cp:revision>
  <dcterms:created xsi:type="dcterms:W3CDTF">2026-05-28T19:54:43Z</dcterms:created>
  <dcterms:modified xsi:type="dcterms:W3CDTF">2026-05-28T19:54:43Z</dcterms:modified>
</cp:coreProperties>
</file>
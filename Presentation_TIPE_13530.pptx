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 présenter. Annoncer le fil : un problème concret de ma ville, traduit en maths, résolu par 3 algorithmes que je compare. Insister dès maintenant sur le mot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jury TESTE le lien au thème. L'annoncer en ouverture et y revenir en conclusion. Ces 3 niveaux sont ma colonne vertébrale.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Ancrer dans le vécu (légitime la motivation). Bien dire 'temps de parcours' et non 'distance' : choix justifié plus loin. Ne pas promettre un déploiement réel : c'est une étude.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que la réalité compliquée devient une structure propre. Si on me demande 'pourquoi complet ?' : entre deux points il existe toujours un itinéraire, résumé par un seul poids.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Savoir redémontrer (n-1)!/2 : n! ordres / n (départ) / 2 (sens). NP-difficile = pas impossible, mais deux échappatoires → mes 3 algos. La courbe montre les murs.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diapo-pivot. Chaque algo occupe un point du compromis. C'est CE qui justifie de les comparer : ils ne sont pas redondants.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le déroulé sur la figure : A→F→B... Insister sur 'myope' : décide sans anticiper.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Aucune garantie d'optimalité. Garantie théorique (RSL 1977) : facteur ~log n dans le pire cas métrique — à vérifier. D'où l'idée d'AMÉLIORER ensuite.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Intuition géométrique : un tour optimal ne se croise jamais. On décroise un par 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Terminaison : longueur strictement décroissante, ensemble fini de tours → s'arrête. Le contre-exemple 12,07 vs 11,75 est RÉEL (sorti de mon code) : il prouve que je comprends local vs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Idée clé = mémoïsation. Savoir énoncer C(S,j) et l'équation de Bellman au tableau. Le sous-ensemble S est codé en binaire (bitmask) dans le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Anticiper : 'pourquoi pas Held-Karp partout ?' → mur mémoire. Sur l'instance réelle je n'ai PAS l'optimum, d'où l'étalonnage sur petites instances + extrapolation prudente.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DÉMARCHE expérimentale, pas des résultats inventés. Les vraies courbes Meknès sont à produire avec mes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nombres sont réels (vérifiés : Held-Karp = force brute sur 50 graphes). Honnêteté : ce n'est qu'un exemple-jouet, l'instance Meknès complète est l'étape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diapo me protège : je désamorce moi-même les objections. Surtout TSP vs CARP — la question la plus probable.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Boucler explicitement sur le thème (le jury y revient). Finir net, sans meubler. Garder en réserve : preuve (n-1)!/2, terminaison 2-opt, complexité Held-Karp.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640080"/>
            <a:ext cx="2011680" cy="2011680"/>
          </a:xfrm>
          <a:prstGeom prst="ellipse">
            <a:avLst/>
          </a:prstGeom>
          <a:ln w="381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4480560"/>
            <a:ext cx="1280160" cy="1280160"/>
          </a:xfrm>
          <a:prstGeom prst="ellipse">
            <a:avLst/>
          </a:prstGeom>
          <a:ln w="3175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2025-2026 · CYCLES, BOUCLES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Optimisation des tournées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collecte des déchets urbains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un quartier de Meknès par un graphe pondéré et comparer trois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 pour en extraire la tournée optimale.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Brahim AMSEGT</a:t>
            </a:r>
            <a:pPr indent="0" marL="0">
              <a:buNone/>
            </a:pPr>
            <a:r>
              <a:rPr lang="en-US" sz="1400" dirty="0">
                <a:solidFill>
                  <a:srgbClr val="9FB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candidat n°13530   ·   CPGE MP   ·   session 2026   ·   monôme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ln w="2794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AU THÈME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cycles dans un seul projet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F4F6F2"/>
          </a:solidFill>
          <a:ln w="12700">
            <a:solidFill>
              <a:srgbClr val="E2E6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 mathématique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tournée cherchée est un cycle hamiltonien : on visite chaque point une fois et on revient au dépôt.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F4F6F2"/>
          </a:solidFill>
          <a:ln w="12700">
            <a:solidFill>
              <a:srgbClr val="E2E6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2402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Boucle algorithmique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39319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 est une boucle d'amélioration itérative qui tourne tant qu'elle fait décroître la longueur.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F4F6F2"/>
          </a:solidFill>
          <a:ln w="12700">
            <a:solidFill>
              <a:srgbClr val="E2E6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24028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2104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 opérationnel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39319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collecte est périodique : elle se répète chaque jour. C'est un cycle temporel.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ln w="2794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DÉPART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problème concret, observé à Meknès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4F6F2"/>
          </a:solidFill>
          <a:ln w="12700">
            <a:solidFill>
              <a:srgbClr val="E2E6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860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C5F2D"/>
                </a:solidFill>
              </a:rPr>
              <a:t>Le constat
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43024"/>
                </a:solidFill>
              </a:rPr>
              <a:t>Les tournées de collecte de mon quartier semblent peu optimisées : détours, retours à vide.
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C5F2D"/>
                </a:solidFill>
              </a:rPr>
              <a:t>La question
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43024"/>
                </a:solidFill>
              </a:rPr>
              <a:t>De combien peut-on raccourcir une tournée par le seul calcul, sans changer ni camions ni horaires 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4F6F2"/>
          </a:solidFill>
          <a:ln w="12700">
            <a:solidFill>
              <a:srgbClr val="E2E6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 retenue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20840" y="2788920"/>
            <a:ext cx="4526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24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modéliser le réseau de collecte d'un quartier par un graphe pondéré, et déterminer algorithmiquement le cycle optimal minimisant le temps de parcours ? Comment se comparent les méthodes en qualité et en efficacité 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ln w="2794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quartier au graphe pondéré</a:t>
            </a:r>
            <a:endParaRPr lang="en-US" sz="3000" dirty="0"/>
          </a:p>
        </p:txBody>
      </p:sp>
      <p:pic>
        <p:nvPicPr>
          <p:cNvPr id="5" name="Image 0" descr="/home/claude/tipe/fig/graphe_compl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737360"/>
            <a:ext cx="512064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01168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(V, E, w)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les 30-40 points de collecte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les trajets entre deux points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w(u,v)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 temps de trajet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4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plutôt que distance :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6B7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trajets de même longueur ne prennent pas le même temps (voie, pente, feux). Trafic négligeable de 5h à 7h → w déterministe.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ln w="2794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MATHÉMATIQUE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Voyageur de commerce et explosion combinatoire</a:t>
            </a:r>
            <a:endParaRPr lang="en-US" sz="3000" dirty="0"/>
          </a:p>
        </p:txBody>
      </p:sp>
      <p:pic>
        <p:nvPicPr>
          <p:cNvPr id="5" name="Image 0" descr="/home/claude/tipe/fig/complex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1783080"/>
            <a:ext cx="502920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01168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4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le cycle hamiltonien de poids minimal.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de tours : (n−1)! / 2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6B7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dès n = 15, plus de 43 milliards de tours.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NP-difficile (Karp, 1972) :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algorithme polynomial connu ne le résout exactement. On ne peut pas tout énumérer.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ln w="2794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réponses à un problème difficile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2194560"/>
                <a:gridCol w="182880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proche voisin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glouton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initiale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2-opt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amélioration locale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optimum local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O(n²)/passe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raffinement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Held–Karp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(prog. dyn.)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optimum 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O(n²·2ⁿ)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étalon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compromis fondamental : optimalité garantie OU temps polynomial — pas les deux (sauf si P = NP).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ln w="2794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1 · PLUS PROCHE VOISIN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Toujours aller au point le plus proche »</a:t>
            </a:r>
            <a:endParaRPr lang="en-US" sz="3000" dirty="0"/>
          </a:p>
        </p:txBody>
      </p:sp>
      <p:pic>
        <p:nvPicPr>
          <p:cNvPr id="5" name="Image 0" descr="/home/claude/tipe/fig/ppv_etap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48840"/>
            <a:ext cx="1088136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Heuristique gloutonne, O(n²) : à chaque arrêt, on saute vers le sommet non visité le plus proche. Simple et rapide.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ln w="2794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1 · LIMITE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prix de la myopie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728" cy="1143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L'arête de retour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37760" y="2011680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voisins proches sont consommés au début ; le retour final au dépôt est souvent très long.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9728" cy="1143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3756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Dépend du départ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3337560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de A ou de C donne des tours différents.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109728" cy="1143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6634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parade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4663440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PPV depuis les n sommets et garder le meilleur : coût O(n³), toujours polynomial.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ln w="2794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2 · 2-OPT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Décroiser le tour pour le raccourcir</a:t>
            </a:r>
            <a:endParaRPr lang="en-US" sz="3000" dirty="0"/>
          </a:p>
        </p:txBody>
      </p:sp>
      <p:pic>
        <p:nvPicPr>
          <p:cNvPr id="5" name="Image 0" descr="/home/claude/tipe/fig/twoop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2011680"/>
            <a:ext cx="960120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Croisement = détour inutile. Le défaire raccourcit toujours le tour (Croes, 1958).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ln w="2794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2 · MÉCANISME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mouvement, et sa limite</a:t>
            </a:r>
            <a:endParaRPr lang="en-US" sz="3000" dirty="0"/>
          </a:p>
        </p:txBody>
      </p:sp>
      <p:pic>
        <p:nvPicPr>
          <p:cNvPr id="5" name="Image 0" descr="/home/claude/tipe/fig/twoopt_schem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920240"/>
            <a:ext cx="530352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01168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43024"/>
                </a:solidFill>
              </a:rPr>
              <a:t>On retire (a,b) et (c,d), on ajoute (a,c) et (b,d).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Gain Δ = w(a,c)+w(b,d) − w(a,b)−w(c,d)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46B"/>
                </a:solidFill>
              </a:rPr>
              <a:t>calculé en O(1) — on n'évalue que 4 arêtes.
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BEDEA"/>
          </a:solidFill>
          <a:ln w="12700">
            <a:solidFill>
              <a:srgbClr val="E2E6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461772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LOCAL ≠ optimum global.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4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mon graphe-jouet, 2-opt peut rester bloqué à 12,07 alors que l'optimum vaut 11,75 : aucun échange de 2 arêtes ne l'améliore, pourtant ce n'est pas le meilleur tour.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ln w="2794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3 · HELD–KARP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Calculer l'optimum sans tout énumérer</a:t>
            </a:r>
            <a:endParaRPr lang="en-US" sz="3000" dirty="0"/>
          </a:p>
        </p:txBody>
      </p:sp>
      <p:pic>
        <p:nvPicPr>
          <p:cNvPr id="5" name="Image 0" descr="/home/claude/tipe/fig/heldkar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2103120"/>
            <a:ext cx="5120640" cy="2468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10312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43024"/>
                </a:solidFill>
              </a:rPr>
              <a:t>Programmation dynamique (1962).
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B746B"/>
                </a:solidFill>
              </a:rPr>
              <a:t>La force brute recalcule mille fois les mêmes sous-chemins. Held–Karp calcule chaque sous-chemin UNE fois et le réutilise.
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C(S,j) = min over i [ C(S\{j}, i) + w(i,j) ]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4937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C(S,j) = coût du meilleur chemin partant du dépôt, visitant exactement S, finissant en j.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ln w="2794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3 · PORTÉE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Exact, mais un mur à n ≈ 20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6F2"/>
          </a:solidFill>
          <a:ln w="12700">
            <a:solidFill>
              <a:srgbClr val="E2E6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31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  O(n²·2ⁿ)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Mémoire  O(n·2ⁿ)  ← sature souvent en premier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6F2"/>
          </a:solidFill>
          <a:ln w="12700">
            <a:solidFill>
              <a:srgbClr val="E2E6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331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b="1" dirty="0">
                <a:solidFill>
                  <a:srgbClr val="243024"/>
                </a:solidFill>
              </a:rPr>
              <a:t>n = 20 : </a:t>
            </a:r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6B746B"/>
                </a:solidFill>
              </a:rPr>
              <a:t>≈ 2·10⁷ cases → gérable
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b="1" dirty="0">
                <a:solidFill>
                  <a:srgbClr val="243024"/>
                </a:solidFill>
              </a:rPr>
              <a:t>n = 25 : </a:t>
            </a:r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6B746B"/>
                </a:solidFill>
              </a:rPr>
              <a:t>≈ 8·10⁸ cases → plusieurs Go, impossible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0080" y="406908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EAF1EA"/>
          </a:solidFill>
          <a:ln w="12700">
            <a:solidFill>
              <a:srgbClr val="E2E6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25196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pour mon TIPE.  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4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Held–Karp est inapplicable sur mes 30-40 points. Je l'utilise comme ÉTALON sur des sous-graphes de 12 à 15 sommets, pour mesurer à quel point PPV et 2-opt s'écartent de l'optimum vrai.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ln w="2794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Protocole de comparaison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Instances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566160" y="2011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réel de Meknès (30-40 pts) + instances aléatoires de tailles croissantes.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90672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99923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Mesures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6160" y="299923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du cycle obtenu et temps de calcul, pour chaque algorithme.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078224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98678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Référence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66160" y="3986784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Held–Karp sur sous-graphes ≤ 15 sommets = optimum vrai pour calibrer l'écart.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065776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97433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66160" y="4974336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Courbes longueur/n et temps/n ; carte du meilleur cycle superposée à OpenStreetMap.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ln w="2794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RÉSULTAT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Vérification sur un exemple-jouet (6 points)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88136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21031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Longueur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 quelconque (croisé)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de départ médiocre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2-opt depuis un mauvais départ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optimum LOCAL — bloqué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proche voisin / 2-opt réussi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optimum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Held–Karp (exact)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3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optimum GLOBAL prouvé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réels produits par mon code. Held–Karp valide les heuristiques et révèle le piège de l'optimum local.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ln w="2794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 CRITIQUE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mon modèle ne capture pas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4F6F2"/>
          </a:solidFill>
          <a:ln w="12700">
            <a:solidFill>
              <a:srgbClr val="E2E6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3429000" cy="10972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TSP, pas CARP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vraie collecte parcourt des rues (arêtes), pas des points. Simplification assumée, justifiée par la densité des points.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4F6F2"/>
          </a:solidFill>
          <a:ln w="12700">
            <a:solidFill>
              <a:srgbClr val="E2E6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2011680"/>
            <a:ext cx="3429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331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de capacité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10896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camion, sans limite de remplissage. Le vrai problème est un VRP avec capacité.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0116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4F6F2"/>
          </a:solidFill>
          <a:ln w="12700">
            <a:solidFill>
              <a:srgbClr val="E2E6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2011680"/>
            <a:ext cx="342900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331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Données à valider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310896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trajet estimés (vitesse par type de voie), à confirmer sur le terrain.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les limites n'affaiblit pas le travail : c'est la posture scientifique que le jury attend.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822960"/>
            <a:ext cx="1737360" cy="1737360"/>
          </a:xfrm>
          <a:prstGeom prst="ellipse">
            <a:avLst/>
          </a:prstGeom>
          <a:ln w="381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389120"/>
            <a:ext cx="1097280" cy="1097280"/>
          </a:xfrm>
          <a:prstGeom prst="ellipse">
            <a:avLst/>
          </a:prstGeom>
          <a:ln w="2921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algorithmes, un même cycle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9875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problème concret devient un cycle hamiltonien ; on le résout par un plus proche voisin rapide, on l'améliore par la boucle 2-opt, on le valide par Held–Karp exact.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illustre les trois sens du thème :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mathématique, boucle algorithmique, cycle opérationnel.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669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attention.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TIPE 13530 - Tournees de collecte</dc:title>
  <dc:subject>PptxGenJS Presentation</dc:subject>
  <dc:creator>Brahim Amsegt</dc:creator>
  <cp:lastModifiedBy>Brahim Amsegt</cp:lastModifiedBy>
  <cp:revision>1</cp:revision>
  <dcterms:created xsi:type="dcterms:W3CDTF">2026-05-28T20:31:00Z</dcterms:created>
  <dcterms:modified xsi:type="dcterms:W3CDTF">2026-05-28T20:31:00Z</dcterms:modified>
</cp:coreProperties>
</file>
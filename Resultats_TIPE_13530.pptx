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Tournees de collecte : comparaison des algorithmes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TIPE 13530 — Brahim Amsegt — Plus proche voisin / 2-opt / Held-Karp</a:t>
            </a:r>
          </a:p>
          <a:p>
            <a:pPr algn="ctr">
              <a:defRPr sz="1800" i="1">
                <a:solidFill>
                  <a:srgbClr val="EEEEEE"/>
                </a:solidFill>
              </a:defRPr>
            </a:pPr>
            <a:r>
              <a:t>Resultats : 2-opt quasi-optimal (+0,9 % a l'optimum exact)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 Le probleme : un TSP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•  Collecte = tournee qui visite tous les points et revient au depot.</a:t>
            </a:r>
          </a:p>
          <a:p>
            <a:pPr>
              <a:spcAft>
                <a:spcPts val="800"/>
              </a:spcAft>
              <a:defRPr sz="2000" b="0">
                <a:solidFill>
                  <a:srgbClr val="1A1A1A"/>
                </a:solidFill>
              </a:defRPr>
            </a:pPr>
            <a:r>
              <a:t>•  Modele : graphe complet pondere G = (V, E, w).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666666"/>
                </a:solidFill>
              </a:defRPr>
            </a:pPr>
            <a:r>
              <a:t>–  V = points de collecte ; w(u, v) = temps de trajet estime.</a:t>
            </a:r>
          </a:p>
          <a:p>
            <a:pPr>
              <a:spcAft>
                <a:spcPts val="800"/>
              </a:spcAft>
              <a:defRPr sz="2000" b="0">
                <a:solidFill>
                  <a:srgbClr val="1A1A1A"/>
                </a:solidFill>
              </a:defRPr>
            </a:pPr>
            <a:r>
              <a:t>•  On cherche le CYCLE HAMILTONIEN de poids minimal.</a:t>
            </a:r>
          </a:p>
          <a:p>
            <a:pPr>
              <a:spcAft>
                <a:spcPts val="800"/>
              </a:spcAft>
              <a:defRPr sz="2000" b="1">
                <a:solidFill>
                  <a:srgbClr val="B85042"/>
                </a:solidFill>
              </a:defRPr>
            </a:pPr>
            <a:r>
              <a:t>•  Probleme NP-difficile : aucun algorithme polynomial exact connu.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666666"/>
                </a:solidFill>
              </a:defRPr>
            </a:pPr>
            <a:r>
              <a:t>–  (n-1)!/2 cycles possibles : &gt; 43 milliards des 15 points.</a:t>
            </a:r>
          </a:p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•  Trois algorithmes, trois compromis vitesse / qualite / exactitude.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2. Les trois algorithmes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5F2D"/>
                </a:solidFill>
              </a:defRPr>
            </a:pPr>
            <a:r>
              <a:t>•  Plus proche voisin (PPV) — glouton, O(n^2).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666666"/>
                </a:solidFill>
              </a:defRPr>
            </a:pPr>
            <a:r>
              <a:t>–  A chaque etape, le point non visite le plus proche. Rapide, myope.</a:t>
            </a:r>
          </a:p>
          <a:p>
            <a:pPr>
              <a:spcAft>
                <a:spcPts val="800"/>
              </a:spcAft>
              <a:defRPr sz="2000" b="1">
                <a:solidFill>
                  <a:srgbClr val="B85042"/>
                </a:solidFill>
              </a:defRPr>
            </a:pPr>
            <a:r>
              <a:t>•  2-opt — amelioration locale, O(n^2) par passe.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666666"/>
                </a:solidFill>
              </a:defRPr>
            </a:pPr>
            <a:r>
              <a:t>–  Decroise le tour du PPV tant qu'un echange le raccourcit. Optimum local.</a:t>
            </a:r>
          </a:p>
          <a:p>
            <a:pPr>
              <a:spcAft>
                <a:spcPts val="800"/>
              </a:spcAft>
              <a:defRPr sz="2000" b="1">
                <a:solidFill>
                  <a:srgbClr val="028090"/>
                </a:solidFill>
              </a:defRPr>
            </a:pPr>
            <a:r>
              <a:t>•  Held-Karp — exact, programmation dynamique, O(n^2 . 2^n).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666666"/>
                </a:solidFill>
              </a:defRPr>
            </a:pPr>
            <a:r>
              <a:t>–  Optimum garanti, mais mur memoire vers n = 20 : reserve a l'etalonnage.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3. Resultats sur l'instance reelle (43 points)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/>
                <a:gridCol w="2377440"/>
                <a:gridCol w="2011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Methode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Temps de cycle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Calcul (s)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Plus proche voisin (depart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18 min 12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Plus proche voisin (meilleur depart)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16 min 26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0.0029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85042"/>
                          </a:solidFill>
                        </a:defRPr>
                      </a:pPr>
                      <a:r>
                        <a:t>2-opt (sur meilleur PPV)</a:t>
                      </a:r>
                    </a:p>
                  </a:txBody>
                  <a:tcPr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85042"/>
                          </a:solidFill>
                        </a:defRPr>
                      </a:pPr>
                      <a:r>
                        <a:t>13 min 23 s</a:t>
                      </a:r>
                    </a:p>
                  </a:txBody>
                  <a:tcPr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85042"/>
                          </a:solidFill>
                        </a:defRPr>
                      </a:pPr>
                      <a:r>
                        <a:t>0.0007</a:t>
                      </a:r>
                    </a:p>
                  </a:txBody>
                  <a:tcPr>
                    <a:solidFill>
                      <a:srgbClr val="FBEF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85042"/>
                </a:solidFill>
              </a:defRPr>
            </a:pPr>
            <a:r>
              <a:t>•  2-opt = meilleur cycle : 13 min 23 s (-26,5 % vs PPV-depot).</a:t>
            </a:r>
          </a:p>
          <a:p>
            <a:pPr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t>•  PPV depend fortement du point de depart (~10 % de gain au meilleur depart).</a:t>
            </a:r>
          </a:p>
          <a:p>
            <a:pPr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t>•  2-opt calcule meme plus vite que le PPV-meilleur-depart, tout en gagnant.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4. Etalonnage contre l'optimum exact (Held-Karp)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1828800"/>
                <a:gridCol w="1737360"/>
                <a:gridCol w="155448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Heuristique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ecart moyen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Plus proche voisin (depot)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+14.4 %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+2.7 %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+24.8 %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Plus proche voisin (meilleur depart)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+11.1 %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+1.3 %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+22.6 %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85042"/>
                          </a:solidFill>
                        </a:defRPr>
                      </a:pPr>
                      <a:r>
                        <a:t>2-opt (sur meilleur PPV)</a:t>
                      </a:r>
                    </a:p>
                  </a:txBody>
                  <a:tcPr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85042"/>
                          </a:solidFill>
                        </a:defRPr>
                      </a:pPr>
                      <a:r>
                        <a:t>+0.9 %</a:t>
                      </a:r>
                    </a:p>
                  </a:txBody>
                  <a:tcPr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85042"/>
                          </a:solidFill>
                        </a:defRPr>
                      </a:pPr>
                      <a:r>
                        <a:t>+0.0 %</a:t>
                      </a:r>
                    </a:p>
                  </a:txBody>
                  <a:tcPr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B85042"/>
                          </a:solidFill>
                        </a:defRPr>
                      </a:pPr>
                      <a:r>
                        <a:t>+3.7 %</a:t>
                      </a:r>
                    </a:p>
                  </a:txBody>
                  <a:tcPr>
                    <a:solidFill>
                      <a:srgbClr val="FBEF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A1A1A"/>
                </a:solidFill>
              </a:defRPr>
            </a:pPr>
            <a:r>
              <a:t>•  7 sous-quartiers de 14 points : Held-Karp donne l'optimum EXACT.</a:t>
            </a:r>
          </a:p>
          <a:p>
            <a:pPr>
              <a:spcAft>
                <a:spcPts val="800"/>
              </a:spcAft>
              <a:defRPr sz="1800" b="1">
                <a:solidFill>
                  <a:srgbClr val="B85042"/>
                </a:solidFill>
              </a:defRPr>
            </a:pPr>
            <a:r>
              <a:t>•  2-opt quasi-optimal : +0,9 % en moyenne, optimum atteint 2 fois sur 7.</a:t>
            </a:r>
          </a:p>
          <a:p>
            <a:pPr>
              <a:spcAft>
                <a:spcPts val="800"/>
              </a:spcAft>
              <a:defRPr sz="1800" b="0">
                <a:solidFill>
                  <a:srgbClr val="1A1A1A"/>
                </a:solidFill>
              </a:defRPr>
            </a:pPr>
            <a:r>
              <a:t>•  Le plus proche voisin peut deriver jusqu'a +24,8 %.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4. Etalonnage — distribution des ecarts</a:t>
            </a:r>
          </a:p>
        </p:txBody>
      </p:sp>
      <p:pic>
        <p:nvPicPr>
          <p:cNvPr id="4" name="Picture 3" descr="calibration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81" y="1234440"/>
            <a:ext cx="746235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Ecart a l'optimum exact par sous-quartier : le 2-opt (rouge) reste colle a 0 %.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5. Le meilleur cycle trouve (2-opt)</a:t>
            </a:r>
          </a:p>
        </p:txBody>
      </p:sp>
      <p:pic>
        <p:nvPicPr>
          <p:cNvPr id="4" name="Picture 3" descr="best_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794" y="1234440"/>
            <a:ext cx="496393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Cycle hamiltonien retenu sur les 43 points. Carre = depot (depart/arrivee).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6. Le graphe et sa matrice d'adjacence</a:t>
            </a:r>
          </a:p>
        </p:txBody>
      </p:sp>
      <p:pic>
        <p:nvPicPr>
          <p:cNvPr id="4" name="Picture 3" descr="graph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66" y="1234440"/>
            <a:ext cx="4673667" cy="4754880"/>
          </a:xfrm>
          <a:prstGeom prst="rect">
            <a:avLst/>
          </a:prstGeom>
        </p:spPr>
      </p:pic>
      <p:pic>
        <p:nvPicPr>
          <p:cNvPr id="5" name="Picture 4" descr="adjacenc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234440"/>
            <a:ext cx="552297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66666"/>
                </a:solidFill>
              </a:defRPr>
            </a:pPr>
            <a:r>
              <a:t>A gauche : le graphe pondere. A droite : la matrice 43x43 (graphe complet).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7. Conclusion &amp;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85042"/>
                </a:solidFill>
              </a:defRPr>
            </a:pPr>
            <a:r>
              <a:t>•  Classement net et robuste : 2-opt &gt; PPV-best &gt; PPV-depot.</a:t>
            </a:r>
          </a:p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•  2-opt = bon compromis : quasi-optimal et tres rapide.</a:t>
            </a:r>
          </a:p>
          <a:p>
            <a:pPr>
              <a:spcAft>
                <a:spcPts val="800"/>
              </a:spcAft>
              <a:defRPr sz="2000" b="1">
                <a:solidFill>
                  <a:srgbClr val="1A1A1A"/>
                </a:solidFill>
              </a:defRPr>
            </a:pPr>
            <a:r>
              <a:t>•  Limites assumees :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666666"/>
                </a:solidFill>
              </a:defRPr>
            </a:pPr>
            <a:r>
              <a:t>–  temps en hypothese forte (vol d'oiseau, vitesse constante) = borne.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666666"/>
                </a:solidFill>
              </a:defRPr>
            </a:pPr>
            <a:r>
              <a:t>–  ecart mesure sur petites instances, extrapole a 43 points avec prudence.</a:t>
            </a:r>
          </a:p>
          <a:p>
            <a:pPr lvl="1">
              <a:spcAft>
                <a:spcPts val="800"/>
              </a:spcAft>
              <a:defRPr sz="1700" b="0">
                <a:solidFill>
                  <a:srgbClr val="666666"/>
                </a:solidFill>
              </a:defRPr>
            </a:pPr>
            <a:r>
              <a:t>–  TSP = simplification assumee d'un CARP.</a:t>
            </a:r>
          </a:p>
          <a:p>
            <a:pPr>
              <a:spcAft>
                <a:spcPts val="800"/>
              </a:spcAft>
              <a:defRPr sz="2000" b="1">
                <a:solidFill>
                  <a:srgbClr val="028090"/>
                </a:solidFill>
              </a:defRPr>
            </a:pPr>
            <a:r>
              <a:t>•  Prolongement : matrice sur reseau routier reel (OSM) -&gt; test de robustesse.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